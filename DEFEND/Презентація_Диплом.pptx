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0" r:id="rId6"/>
    <p:sldId id="261" r:id="rId7"/>
    <p:sldId id="263" r:id="rId8"/>
    <p:sldId id="267" r:id="rId9"/>
    <p:sldId id="258" r:id="rId10"/>
    <p:sldId id="273" r:id="rId11"/>
    <p:sldId id="270" r:id="rId12"/>
    <p:sldId id="271" r:id="rId13"/>
    <p:sldId id="272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4533"/>
    <a:srgbClr val="F19100"/>
    <a:srgbClr val="1F56B9"/>
    <a:srgbClr val="170ECA"/>
    <a:srgbClr val="D80052"/>
    <a:srgbClr val="DEA8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774" autoAdjust="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2D8EFA-EB3D-476A-849B-323B921B17CB}" type="datetimeFigureOut">
              <a:rPr lang="uk-UA" smtClean="0"/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  <a:endParaRPr lang="uk-UA"/>
          </a:p>
          <a:p>
            <a:pPr lvl="1"/>
            <a:r>
              <a:rPr lang="uk-UA"/>
              <a:t>Другий рівень</a:t>
            </a:r>
            <a:endParaRPr lang="uk-UA"/>
          </a:p>
          <a:p>
            <a:pPr lvl="2"/>
            <a:r>
              <a:rPr lang="uk-UA"/>
              <a:t>Третій рівень</a:t>
            </a:r>
            <a:endParaRPr lang="uk-UA"/>
          </a:p>
          <a:p>
            <a:pPr lvl="3"/>
            <a:r>
              <a:rPr lang="uk-UA"/>
              <a:t>Четвертий рівень</a:t>
            </a:r>
            <a:endParaRPr lang="uk-UA"/>
          </a:p>
          <a:p>
            <a:pPr lvl="4"/>
            <a:r>
              <a:rPr lang="uk-UA"/>
              <a:t>П’ятий рівень</a:t>
            </a:r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5B1B30-0742-4CBD-AC33-5A3E67431351}" type="slidenum">
              <a:rPr lang="uk-UA" smtClean="0"/>
            </a:fld>
            <a:endParaRPr lang="uk-U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Шановний голова та члени підкомісії вашій увазі представляється кваліфікаційна робота на тему </a:t>
            </a:r>
            <a:r>
              <a:rPr lang="uk-UA" dirty="0">
                <a:latin typeface="UAF Sans" pitchFamily="2" charset="-52"/>
                <a:ea typeface="UAF Sans" pitchFamily="2" charset="-52"/>
              </a:rPr>
              <a:t>Розробка підсистеми автоматичного стеження для військових застосувань на основі </a:t>
            </a:r>
            <a:r>
              <a:rPr lang="uk-UA" dirty="0" err="1">
                <a:latin typeface="UAF Sans" pitchFamily="2" charset="-52"/>
                <a:ea typeface="UAF Sans" pitchFamily="2" charset="-52"/>
              </a:rPr>
              <a:t>Raspberry</a:t>
            </a:r>
            <a:r>
              <a:rPr lang="uk-UA" dirty="0">
                <a:latin typeface="UAF Sans" pitchFamily="2" charset="-52"/>
                <a:ea typeface="UAF Sans" pitchFamily="2" charset="-52"/>
              </a:rPr>
              <a:t> </a:t>
            </a:r>
            <a:r>
              <a:rPr lang="uk-UA" dirty="0" err="1">
                <a:latin typeface="UAF Sans" pitchFamily="2" charset="-52"/>
                <a:ea typeface="UAF Sans" pitchFamily="2" charset="-52"/>
              </a:rPr>
              <a:t>Pi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5B1B30-0742-4CBD-AC33-5A3E67431351}" type="slidenum">
              <a:rPr lang="uk-UA" smtClean="0"/>
            </a:fld>
            <a:endParaRPr lang="uk-UA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5B1B30-0742-4CBD-AC33-5A3E67431351}" type="slidenum">
              <a:rPr lang="uk-UA" smtClean="0"/>
            </a:fld>
            <a:endParaRPr lang="uk-U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Перелічені існуючі рішення </a:t>
            </a:r>
            <a:r>
              <a:rPr lang="en-US" dirty="0" err="1"/>
              <a:t>HikVision</a:t>
            </a:r>
            <a:r>
              <a:rPr lang="en-US" dirty="0"/>
              <a:t> Dahua </a:t>
            </a:r>
            <a:r>
              <a:rPr lang="en-US" dirty="0" err="1"/>
              <a:t>WizMind</a:t>
            </a:r>
            <a:r>
              <a:rPr lang="en-US" dirty="0"/>
              <a:t> </a:t>
            </a:r>
            <a:r>
              <a:rPr lang="en-US" dirty="0" err="1"/>
              <a:t>HeadWall</a:t>
            </a:r>
            <a:r>
              <a:rPr lang="en-US" dirty="0"/>
              <a:t> </a:t>
            </a:r>
            <a:r>
              <a:rPr lang="uk-UA" dirty="0"/>
              <a:t>представляють собою системи автоматизованого стеження (починаючи від камери з можливістю розрізняти різні </a:t>
            </a:r>
            <a:r>
              <a:rPr lang="uk-UA" dirty="0" err="1"/>
              <a:t>обєкти</a:t>
            </a:r>
            <a:r>
              <a:rPr lang="uk-UA" dirty="0"/>
              <a:t> до </a:t>
            </a:r>
            <a:r>
              <a:rPr lang="uk-UA" dirty="0" err="1"/>
              <a:t>Тепловізійних</a:t>
            </a:r>
            <a:r>
              <a:rPr lang="uk-UA" dirty="0"/>
              <a:t> систем цілодобового спостереження)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5B1B30-0742-4CBD-AC33-5A3E67431351}" type="slidenum">
              <a:rPr lang="uk-UA" smtClean="0"/>
            </a:fld>
            <a:endParaRPr lang="uk-U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Існують ризики використання Китайських систем відеоспостереження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5B1B30-0742-4CBD-AC33-5A3E67431351}" type="slidenum">
              <a:rPr lang="uk-UA" smtClean="0"/>
            </a:fld>
            <a:endParaRPr lang="uk-U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Переглянувши недоліки існуючих рішень можна поставити перед собою мету</a:t>
            </a:r>
            <a:r>
              <a:rPr lang="en-US" dirty="0"/>
              <a:t>:</a:t>
            </a:r>
            <a:r>
              <a:rPr lang="uk-UA" dirty="0"/>
              <a:t> </a:t>
            </a:r>
            <a:r>
              <a:rPr lang="uk-UA" dirty="0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  <a:t>підвищити ситуаційну </a:t>
            </a:r>
            <a:r>
              <a:rPr lang="uk-UA" dirty="0" err="1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  <a:t>обізнаность</a:t>
            </a:r>
            <a:r>
              <a:rPr lang="uk-UA" dirty="0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  <a:t> підрозділів ЗСУ за рахунок створення підсистеми автоматичного стеження, здатної виявляти та супроводжувати об'єкти у реальному часі. 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5B1B30-0742-4CBD-AC33-5A3E67431351}" type="slidenum">
              <a:rPr lang="uk-UA" smtClean="0"/>
            </a:fld>
            <a:endParaRPr lang="uk-UA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Виходячи З Поставленої задачі були визначені Предмет та </a:t>
            </a:r>
            <a:r>
              <a:rPr lang="uk-UA" dirty="0" err="1"/>
              <a:t>Обєкт</a:t>
            </a:r>
            <a:r>
              <a:rPr lang="uk-UA" dirty="0"/>
              <a:t> дослідження які перелічені на слайді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5B1B30-0742-4CBD-AC33-5A3E67431351}" type="slidenum">
              <a:rPr lang="uk-UA" smtClean="0"/>
            </a:fld>
            <a:endParaRPr lang="uk-UA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В рамках </a:t>
            </a:r>
            <a:r>
              <a:rPr lang="uk-UA" dirty="0" err="1"/>
              <a:t>кваліфікаційнох</a:t>
            </a:r>
            <a:r>
              <a:rPr lang="uk-UA" dirty="0"/>
              <a:t> роботи був </a:t>
            </a:r>
            <a:r>
              <a:rPr lang="uk-UA" dirty="0" err="1"/>
              <a:t>проведенй</a:t>
            </a:r>
            <a:r>
              <a:rPr lang="uk-UA" dirty="0"/>
              <a:t> аналіз платформ на яких можна виконати задачу Серед усіх </a:t>
            </a:r>
            <a:r>
              <a:rPr lang="uk-UA" dirty="0" err="1"/>
              <a:t>конкурениів</a:t>
            </a:r>
            <a:r>
              <a:rPr lang="uk-UA" dirty="0"/>
              <a:t> </a:t>
            </a:r>
            <a:r>
              <a:rPr lang="en-US" dirty="0"/>
              <a:t>raspberry </a:t>
            </a:r>
            <a:r>
              <a:rPr lang="uk-UA" dirty="0"/>
              <a:t>являє собою найкращі показники в </a:t>
            </a:r>
            <a:r>
              <a:rPr lang="uk-UA" dirty="0" err="1"/>
              <a:t>співвіднощенні</a:t>
            </a:r>
            <a:r>
              <a:rPr lang="uk-UA" dirty="0"/>
              <a:t> ціни та функціональних можливостей Більш докладно характеристики платформ представлені в Додатку В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5B1B30-0742-4CBD-AC33-5A3E67431351}" type="slidenum">
              <a:rPr lang="uk-UA" smtClean="0"/>
            </a:fld>
            <a:endParaRPr lang="uk-UA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В рамках </a:t>
            </a:r>
            <a:r>
              <a:rPr lang="uk-UA" dirty="0" err="1"/>
              <a:t>кваліфікаційнох</a:t>
            </a:r>
            <a:r>
              <a:rPr lang="uk-UA" dirty="0"/>
              <a:t> роботи був </a:t>
            </a:r>
            <a:r>
              <a:rPr lang="uk-UA" dirty="0" err="1"/>
              <a:t>проведенй</a:t>
            </a:r>
            <a:r>
              <a:rPr lang="uk-UA" dirty="0"/>
              <a:t> аналіз платформ на яких можна виконати задачу Серед усіх </a:t>
            </a:r>
            <a:r>
              <a:rPr lang="uk-UA" dirty="0" err="1"/>
              <a:t>конкурениів</a:t>
            </a:r>
            <a:r>
              <a:rPr lang="uk-UA" dirty="0"/>
              <a:t> </a:t>
            </a:r>
            <a:r>
              <a:rPr lang="en-US" dirty="0"/>
              <a:t>raspberry </a:t>
            </a:r>
            <a:r>
              <a:rPr lang="uk-UA" dirty="0"/>
              <a:t>являє собою найкращі показники в </a:t>
            </a:r>
            <a:r>
              <a:rPr lang="uk-UA" dirty="0" err="1"/>
              <a:t>співвіднощенні</a:t>
            </a:r>
            <a:r>
              <a:rPr lang="uk-UA" dirty="0"/>
              <a:t> ціни та функціональних можливостей Більш докладно характеристики платформ представлені в Додатку В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5B1B30-0742-4CBD-AC33-5A3E67431351}" type="slidenum">
              <a:rPr lang="uk-UA" smtClean="0"/>
            </a:fld>
            <a:endParaRPr lang="uk-UA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В рамках </a:t>
            </a:r>
            <a:r>
              <a:rPr lang="uk-UA" dirty="0" err="1"/>
              <a:t>кваліфікаційнох</a:t>
            </a:r>
            <a:r>
              <a:rPr lang="uk-UA" dirty="0"/>
              <a:t> роботи був </a:t>
            </a:r>
            <a:r>
              <a:rPr lang="uk-UA" dirty="0" err="1"/>
              <a:t>проведенй</a:t>
            </a:r>
            <a:r>
              <a:rPr lang="uk-UA" dirty="0"/>
              <a:t> аналіз платформ на яких можна виконати задачу Серед усіх </a:t>
            </a:r>
            <a:r>
              <a:rPr lang="uk-UA" dirty="0" err="1"/>
              <a:t>конкурениів</a:t>
            </a:r>
            <a:r>
              <a:rPr lang="uk-UA" dirty="0"/>
              <a:t> </a:t>
            </a:r>
            <a:r>
              <a:rPr lang="en-US" dirty="0"/>
              <a:t>raspberry </a:t>
            </a:r>
            <a:r>
              <a:rPr lang="uk-UA" dirty="0"/>
              <a:t>являє собою найкращі показники в </a:t>
            </a:r>
            <a:r>
              <a:rPr lang="uk-UA" dirty="0" err="1"/>
              <a:t>співвіднощенні</a:t>
            </a:r>
            <a:r>
              <a:rPr lang="uk-UA" dirty="0"/>
              <a:t> ціни та функціональних можливостей Більш докладно характеристики платформ представлені в Додатку В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5B1B30-0742-4CBD-AC33-5A3E67431351}" type="slidenum">
              <a:rPr lang="uk-UA" smtClean="0"/>
            </a:fld>
            <a:endParaRPr lang="uk-UA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В рамках </a:t>
            </a:r>
            <a:r>
              <a:rPr lang="uk-UA" dirty="0" err="1"/>
              <a:t>кваліфікаційнох</a:t>
            </a:r>
            <a:r>
              <a:rPr lang="uk-UA" dirty="0"/>
              <a:t> роботи був </a:t>
            </a:r>
            <a:r>
              <a:rPr lang="uk-UA" dirty="0" err="1"/>
              <a:t>проведенй</a:t>
            </a:r>
            <a:r>
              <a:rPr lang="uk-UA" dirty="0"/>
              <a:t> аналіз платформ на яких можна виконати задачу Серед усіх </a:t>
            </a:r>
            <a:r>
              <a:rPr lang="uk-UA" dirty="0" err="1"/>
              <a:t>конкурениів</a:t>
            </a:r>
            <a:r>
              <a:rPr lang="uk-UA" dirty="0"/>
              <a:t> </a:t>
            </a:r>
            <a:r>
              <a:rPr lang="en-US" dirty="0"/>
              <a:t>raspberry </a:t>
            </a:r>
            <a:r>
              <a:rPr lang="uk-UA" dirty="0"/>
              <a:t>являє собою найкращі показники в </a:t>
            </a:r>
            <a:r>
              <a:rPr lang="uk-UA" dirty="0" err="1"/>
              <a:t>співвіднощенні</a:t>
            </a:r>
            <a:r>
              <a:rPr lang="uk-UA" dirty="0"/>
              <a:t> ціни та функціональних можливостей Більш докладно характеристики платформ представлені в Додатку В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5B1B30-0742-4CBD-AC33-5A3E67431351}" type="slidenum">
              <a:rPr lang="uk-UA" smtClean="0"/>
            </a:fld>
            <a:endParaRPr lang="uk-UA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В рамках </a:t>
            </a:r>
            <a:r>
              <a:rPr lang="uk-UA" dirty="0" err="1"/>
              <a:t>кваліфікаційнох</a:t>
            </a:r>
            <a:r>
              <a:rPr lang="uk-UA" dirty="0"/>
              <a:t> роботи був </a:t>
            </a:r>
            <a:r>
              <a:rPr lang="uk-UA" dirty="0" err="1"/>
              <a:t>проведенй</a:t>
            </a:r>
            <a:r>
              <a:rPr lang="uk-UA" dirty="0"/>
              <a:t> аналіз платформ на яких можна виконати задачу Серед усіх </a:t>
            </a:r>
            <a:r>
              <a:rPr lang="uk-UA" dirty="0" err="1"/>
              <a:t>конкурениів</a:t>
            </a:r>
            <a:r>
              <a:rPr lang="uk-UA" dirty="0"/>
              <a:t> </a:t>
            </a:r>
            <a:r>
              <a:rPr lang="en-US" dirty="0"/>
              <a:t>raspberry </a:t>
            </a:r>
            <a:r>
              <a:rPr lang="uk-UA" dirty="0"/>
              <a:t>являє собою найкращі показники в </a:t>
            </a:r>
            <a:r>
              <a:rPr lang="uk-UA" dirty="0" err="1"/>
              <a:t>співвіднощенні</a:t>
            </a:r>
            <a:r>
              <a:rPr lang="uk-UA" dirty="0"/>
              <a:t> ціни та функціональних можливостей Більш докладно характеристики платформ представлені в Додатку В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5B1B30-0742-4CBD-AC33-5A3E67431351}" type="slidenum">
              <a:rPr lang="uk-UA" smtClean="0"/>
            </a:fld>
            <a:endParaRPr lang="uk-U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DC75B-F17E-41E9-BFA0-9C8D9F7B96E4}" type="datetime1">
              <a:rPr lang="uk-UA" smtClean="0"/>
            </a:fld>
            <a:endParaRPr lang="uk-U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8FF94-6348-4D33-B9E2-7050E6E6EC6D}" type="slidenum">
              <a:rPr lang="uk-UA" smtClean="0"/>
            </a:fld>
            <a:endParaRPr lang="uk-UA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  <a:endParaRPr lang="uk-UA"/>
          </a:p>
          <a:p>
            <a:pPr lvl="1"/>
            <a:r>
              <a:rPr lang="uk-UA"/>
              <a:t>Другий рівень</a:t>
            </a:r>
            <a:endParaRPr lang="uk-UA"/>
          </a:p>
          <a:p>
            <a:pPr lvl="2"/>
            <a:r>
              <a:rPr lang="uk-UA"/>
              <a:t>Третій рівень</a:t>
            </a:r>
            <a:endParaRPr lang="uk-UA"/>
          </a:p>
          <a:p>
            <a:pPr lvl="3"/>
            <a:r>
              <a:rPr lang="uk-UA"/>
              <a:t>Четвертий рівень</a:t>
            </a:r>
            <a:endParaRPr lang="uk-UA"/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4E24D-6CB1-4AF7-A1FD-82F2B69BEB69}" type="datetime1">
              <a:rPr lang="uk-UA" smtClean="0"/>
            </a:fld>
            <a:endParaRPr lang="uk-U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8FF94-6348-4D33-B9E2-7050E6E6EC6D}" type="slidenum">
              <a:rPr lang="uk-UA" smtClean="0"/>
            </a:fld>
            <a:endParaRPr lang="uk-UA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  <a:endParaRPr lang="uk-U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A1011-C962-460C-A705-76310DD9B077}" type="datetime1">
              <a:rPr lang="uk-UA" smtClean="0"/>
            </a:fld>
            <a:endParaRPr lang="uk-U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8FF94-6348-4D33-B9E2-7050E6E6EC6D}" type="slidenum">
              <a:rPr lang="uk-UA" smtClean="0"/>
            </a:fld>
            <a:endParaRPr lang="uk-UA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  <a:endParaRPr lang="uk-UA"/>
          </a:p>
          <a:p>
            <a:pPr lvl="1"/>
            <a:r>
              <a:rPr lang="uk-UA"/>
              <a:t>Другий рівень</a:t>
            </a:r>
            <a:endParaRPr lang="uk-UA"/>
          </a:p>
          <a:p>
            <a:pPr lvl="2"/>
            <a:r>
              <a:rPr lang="uk-UA"/>
              <a:t>Третій рівень</a:t>
            </a:r>
            <a:endParaRPr lang="uk-UA"/>
          </a:p>
          <a:p>
            <a:pPr lvl="3"/>
            <a:r>
              <a:rPr lang="uk-UA"/>
              <a:t>Четвертий рівень</a:t>
            </a:r>
            <a:endParaRPr lang="uk-UA"/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  <a:endParaRPr lang="uk-UA"/>
          </a:p>
          <a:p>
            <a:pPr lvl="1"/>
            <a:r>
              <a:rPr lang="uk-UA"/>
              <a:t>Другий рівень</a:t>
            </a:r>
            <a:endParaRPr lang="uk-UA"/>
          </a:p>
          <a:p>
            <a:pPr lvl="2"/>
            <a:r>
              <a:rPr lang="uk-UA"/>
              <a:t>Третій рівень</a:t>
            </a:r>
            <a:endParaRPr lang="uk-UA"/>
          </a:p>
          <a:p>
            <a:pPr lvl="3"/>
            <a:r>
              <a:rPr lang="uk-UA"/>
              <a:t>Четвертий рівень</a:t>
            </a:r>
            <a:endParaRPr lang="uk-UA"/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FE433-C1DE-4F3D-BAFF-6518B922C70A}" type="datetime1">
              <a:rPr lang="uk-UA" smtClean="0"/>
            </a:fld>
            <a:endParaRPr lang="uk-U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8FF94-6348-4D33-B9E2-7050E6E6EC6D}" type="slidenum">
              <a:rPr lang="uk-UA" smtClean="0"/>
            </a:fld>
            <a:endParaRPr lang="uk-UA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  <a:endParaRPr lang="uk-UA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  <a:endParaRPr lang="uk-UA"/>
          </a:p>
          <a:p>
            <a:pPr lvl="1"/>
            <a:r>
              <a:rPr lang="uk-UA"/>
              <a:t>Другий рівень</a:t>
            </a:r>
            <a:endParaRPr lang="uk-UA"/>
          </a:p>
          <a:p>
            <a:pPr lvl="2"/>
            <a:r>
              <a:rPr lang="uk-UA"/>
              <a:t>Третій рівень</a:t>
            </a:r>
            <a:endParaRPr lang="uk-UA"/>
          </a:p>
          <a:p>
            <a:pPr lvl="3"/>
            <a:r>
              <a:rPr lang="uk-UA"/>
              <a:t>Четвертий рівень</a:t>
            </a:r>
            <a:endParaRPr lang="uk-UA"/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  <a:endParaRPr lang="uk-UA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  <a:endParaRPr lang="uk-UA"/>
          </a:p>
          <a:p>
            <a:pPr lvl="1"/>
            <a:r>
              <a:rPr lang="uk-UA"/>
              <a:t>Другий рівень</a:t>
            </a:r>
            <a:endParaRPr lang="uk-UA"/>
          </a:p>
          <a:p>
            <a:pPr lvl="2"/>
            <a:r>
              <a:rPr lang="uk-UA"/>
              <a:t>Третій рівень</a:t>
            </a:r>
            <a:endParaRPr lang="uk-UA"/>
          </a:p>
          <a:p>
            <a:pPr lvl="3"/>
            <a:r>
              <a:rPr lang="uk-UA"/>
              <a:t>Четвертий рівень</a:t>
            </a:r>
            <a:endParaRPr lang="uk-UA"/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0AF51-D5BA-4E83-B0C8-7C1DAB6363DB}" type="datetime1">
              <a:rPr lang="uk-UA" smtClean="0"/>
            </a:fld>
            <a:endParaRPr lang="uk-UA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8FF94-6348-4D33-B9E2-7050E6E6EC6D}" type="slidenum">
              <a:rPr lang="uk-UA" smtClean="0"/>
            </a:fld>
            <a:endParaRPr lang="uk-UA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D35B1-B2FD-46FE-B38A-B598FB78A3E1}" type="datetime1">
              <a:rPr lang="uk-UA" smtClean="0"/>
            </a:fld>
            <a:endParaRPr lang="uk-U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8FF94-6348-4D33-B9E2-7050E6E6EC6D}" type="slidenum">
              <a:rPr lang="uk-UA" smtClean="0"/>
            </a:fld>
            <a:endParaRPr lang="uk-UA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B11E7-6195-4BF9-8F41-DCC3E1DCDF43}" type="datetime1">
              <a:rPr lang="uk-UA" smtClean="0"/>
            </a:fld>
            <a:endParaRPr lang="uk-UA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8FF94-6348-4D33-B9E2-7050E6E6EC6D}" type="slidenum">
              <a:rPr lang="uk-UA" smtClean="0"/>
            </a:fld>
            <a:endParaRPr lang="uk-UA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  <a:endParaRPr lang="uk-UA"/>
          </a:p>
          <a:p>
            <a:pPr lvl="1"/>
            <a:r>
              <a:rPr lang="uk-UA"/>
              <a:t>Другий рівень</a:t>
            </a:r>
            <a:endParaRPr lang="uk-UA"/>
          </a:p>
          <a:p>
            <a:pPr lvl="2"/>
            <a:r>
              <a:rPr lang="uk-UA"/>
              <a:t>Третій рівень</a:t>
            </a:r>
            <a:endParaRPr lang="uk-UA"/>
          </a:p>
          <a:p>
            <a:pPr lvl="3"/>
            <a:r>
              <a:rPr lang="uk-UA"/>
              <a:t>Четвертий рівень</a:t>
            </a:r>
            <a:endParaRPr lang="uk-UA"/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  <a:endParaRPr lang="uk-U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D92C3-A5C1-410D-A8AB-526C5056A402}" type="datetime1">
              <a:rPr lang="uk-UA" smtClean="0"/>
            </a:fld>
            <a:endParaRPr lang="uk-U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8FF94-6348-4D33-B9E2-7050E6E6EC6D}" type="slidenum">
              <a:rPr lang="uk-UA" smtClean="0"/>
            </a:fld>
            <a:endParaRPr lang="uk-UA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 dirty="0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  <a:endParaRPr lang="uk-U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9875F-8EDE-4F77-8E69-E6787B713724}" type="datetime1">
              <a:rPr lang="uk-UA" smtClean="0"/>
            </a:fld>
            <a:endParaRPr lang="uk-U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8FF94-6348-4D33-B9E2-7050E6E6EC6D}" type="slidenum">
              <a:rPr lang="uk-UA" smtClean="0"/>
            </a:fld>
            <a:endParaRPr lang="uk-UA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  <a:endParaRPr lang="uk-UA"/>
          </a:p>
          <a:p>
            <a:pPr lvl="1"/>
            <a:r>
              <a:rPr lang="uk-UA"/>
              <a:t>Другий рівень</a:t>
            </a:r>
            <a:endParaRPr lang="uk-UA"/>
          </a:p>
          <a:p>
            <a:pPr lvl="2"/>
            <a:r>
              <a:rPr lang="uk-UA"/>
              <a:t>Третій рівень</a:t>
            </a:r>
            <a:endParaRPr lang="uk-UA"/>
          </a:p>
          <a:p>
            <a:pPr lvl="3"/>
            <a:r>
              <a:rPr lang="uk-UA"/>
              <a:t>Четвертий рівень</a:t>
            </a:r>
            <a:endParaRPr lang="uk-UA"/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7D43-64A1-4863-B612-B0B377DEFE9A}" type="datetime1">
              <a:rPr lang="uk-UA" smtClean="0"/>
            </a:fld>
            <a:endParaRPr lang="uk-U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8FF94-6348-4D33-B9E2-7050E6E6EC6D}" type="slidenum">
              <a:rPr lang="uk-UA" smtClean="0"/>
            </a:fld>
            <a:endParaRPr lang="uk-UA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  <a:endParaRPr lang="uk-UA"/>
          </a:p>
          <a:p>
            <a:pPr lvl="1"/>
            <a:r>
              <a:rPr lang="uk-UA"/>
              <a:t>Другий рівень</a:t>
            </a:r>
            <a:endParaRPr lang="uk-UA"/>
          </a:p>
          <a:p>
            <a:pPr lvl="2"/>
            <a:r>
              <a:rPr lang="uk-UA"/>
              <a:t>Третій рівень</a:t>
            </a:r>
            <a:endParaRPr lang="uk-UA"/>
          </a:p>
          <a:p>
            <a:pPr lvl="3"/>
            <a:r>
              <a:rPr lang="uk-UA"/>
              <a:t>Четвертий рівень</a:t>
            </a:r>
            <a:endParaRPr lang="uk-UA"/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9A358-BEDE-47C2-B9D0-7E9DDD40DBBC}" type="datetime1">
              <a:rPr lang="uk-UA" smtClean="0"/>
            </a:fld>
            <a:endParaRPr lang="uk-U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8FF94-6348-4D33-B9E2-7050E6E6EC6D}" type="slidenum">
              <a:rPr lang="uk-UA" smtClean="0"/>
            </a:fld>
            <a:endParaRPr lang="uk-UA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  <a:endParaRPr lang="uk-UA"/>
          </a:p>
          <a:p>
            <a:pPr lvl="1"/>
            <a:r>
              <a:rPr lang="uk-UA"/>
              <a:t>Другий рівень</a:t>
            </a:r>
            <a:endParaRPr lang="uk-UA"/>
          </a:p>
          <a:p>
            <a:pPr lvl="2"/>
            <a:r>
              <a:rPr lang="uk-UA"/>
              <a:t>Третій рівень</a:t>
            </a:r>
            <a:endParaRPr lang="uk-UA"/>
          </a:p>
          <a:p>
            <a:pPr lvl="3"/>
            <a:r>
              <a:rPr lang="uk-UA"/>
              <a:t>Четвертий рівень</a:t>
            </a:r>
            <a:endParaRPr lang="uk-UA"/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2D031-E870-478E-8E58-C7BD5049A372}" type="datetime1">
              <a:rPr lang="uk-UA" smtClean="0"/>
            </a:fld>
            <a:endParaRPr lang="uk-U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98FF94-6348-4D33-B9E2-7050E6E6EC6D}" type="slidenum">
              <a:rPr lang="uk-UA" smtClean="0"/>
            </a:fld>
            <a:endParaRPr lang="uk-UA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11197" y="1121778"/>
            <a:ext cx="10769601" cy="1488757"/>
          </a:xfrm>
        </p:spPr>
        <p:txBody>
          <a:bodyPr>
            <a:normAutofit/>
          </a:bodyPr>
          <a:lstStyle/>
          <a:p>
            <a:pPr defTabSz="548640">
              <a:defRPr/>
            </a:pPr>
            <a:r>
              <a:rPr lang="uk-UA" sz="2800" b="1" dirty="0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  <a:t>Військовий інститут</a:t>
            </a:r>
            <a:br>
              <a:rPr lang="uk-UA" sz="2800" b="1" dirty="0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</a:br>
            <a:r>
              <a:rPr lang="uk-UA" sz="2800" b="1" dirty="0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  <a:t>телекомунікацій та інформатизації</a:t>
            </a:r>
            <a:br>
              <a:rPr lang="uk-UA" sz="2800" b="1" dirty="0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</a:br>
            <a:r>
              <a:rPr lang="uk-UA" sz="2800" b="1" dirty="0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  <a:t>імені Героїв Крут</a:t>
            </a:r>
            <a:endParaRPr lang="uk-UA" sz="2800" b="1" dirty="0">
              <a:solidFill>
                <a:schemeClr val="bg1"/>
              </a:solidFill>
              <a:latin typeface="UAF Sans" pitchFamily="2" charset="-52"/>
              <a:ea typeface="UAF Sans" pitchFamily="2" charset="-52"/>
            </a:endParaRPr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1523997" y="2722295"/>
            <a:ext cx="9144000" cy="1655762"/>
          </a:xfrm>
        </p:spPr>
        <p:txBody>
          <a:bodyPr/>
          <a:lstStyle/>
          <a:p>
            <a:r>
              <a:rPr lang="uk-UA" dirty="0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  <a:t>Кваліфікаційна робота магістра</a:t>
            </a:r>
            <a:br>
              <a:rPr lang="uk-UA" dirty="0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</a:br>
            <a:r>
              <a:rPr lang="uk-UA" dirty="0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  <a:t>«</a:t>
            </a:r>
            <a:r>
              <a:rPr lang="en-US" altLang="en-US" dirty="0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  <a:t>Освітня система адаптивного навчання на основі аналізу дій користувача та результатів його навчання з використанням технологій ШІ</a:t>
            </a:r>
            <a:r>
              <a:rPr lang="uk-UA" dirty="0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  <a:t>»</a:t>
            </a:r>
            <a:endParaRPr lang="zh-CN" altLang="en-US" dirty="0">
              <a:solidFill>
                <a:schemeClr val="bg1"/>
              </a:solidFill>
              <a:latin typeface="UAF Sans" pitchFamily="2" charset="-52"/>
              <a:ea typeface="UAF Sans" pitchFamily="2" charset="-52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989811" y="5274557"/>
            <a:ext cx="338763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uk-UA" b="1" dirty="0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  <a:t>Науковий керівник:</a:t>
            </a:r>
            <a:br>
              <a:rPr lang="uk-UA" b="1" dirty="0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</a:br>
            <a:r>
              <a:rPr lang="uk-UA" b="1" dirty="0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  <a:t>викладач кафедри № 22</a:t>
            </a:r>
            <a:br>
              <a:rPr lang="uk-UA" b="1" dirty="0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</a:br>
            <a:r>
              <a:rPr lang="uk-UA" b="1" dirty="0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  <a:t>майор Дмитро УСТИНОВ</a:t>
            </a:r>
            <a:endParaRPr lang="uk-UA" b="1" dirty="0">
              <a:solidFill>
                <a:schemeClr val="bg1"/>
              </a:solidFill>
              <a:latin typeface="UAF Sans" pitchFamily="2" charset="-52"/>
              <a:ea typeface="UAF Sans" pitchFamily="2" charset="-52"/>
            </a:endParaRPr>
          </a:p>
        </p:txBody>
      </p:sp>
      <p:sp>
        <p:nvSpPr>
          <p:cNvPr id="5" name="TextBox 10"/>
          <p:cNvSpPr txBox="1"/>
          <p:nvPr/>
        </p:nvSpPr>
        <p:spPr>
          <a:xfrm>
            <a:off x="7052553" y="5274557"/>
            <a:ext cx="4956315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48640">
              <a:lnSpc>
                <a:spcPts val="2400"/>
              </a:lnSpc>
            </a:pPr>
            <a:r>
              <a:rPr lang="uk-UA" b="1" dirty="0">
                <a:solidFill>
                  <a:schemeClr val="bg1"/>
                </a:solidFill>
                <a:latin typeface="UAF Sans" pitchFamily="2" charset="-52"/>
                <a:ea typeface="UAF Sans" pitchFamily="2" charset="-52"/>
                <a:cs typeface="Arial" panose="020B0604020202020204" pitchFamily="34" charset="0"/>
              </a:rPr>
              <a:t>Доповідач:</a:t>
            </a:r>
            <a:br>
              <a:rPr lang="uk-UA" b="1" dirty="0">
                <a:solidFill>
                  <a:schemeClr val="bg1"/>
                </a:solidFill>
                <a:latin typeface="UAF Sans" pitchFamily="2" charset="-52"/>
                <a:ea typeface="UAF Sans" pitchFamily="2" charset="-52"/>
                <a:cs typeface="Arial" panose="020B0604020202020204" pitchFamily="34" charset="0"/>
              </a:rPr>
            </a:br>
            <a:r>
              <a:rPr lang="uk-UA" b="1" dirty="0">
                <a:solidFill>
                  <a:schemeClr val="bg1"/>
                </a:solidFill>
                <a:latin typeface="UAF Sans" pitchFamily="2" charset="-52"/>
                <a:ea typeface="UAF Sans" pitchFamily="2" charset="-52"/>
                <a:cs typeface="Arial" panose="020B0604020202020204" pitchFamily="34" charset="0"/>
              </a:rPr>
              <a:t>слухач 541м навчальної групи</a:t>
            </a:r>
            <a:endParaRPr lang="uk-UA" b="1" dirty="0">
              <a:solidFill>
                <a:schemeClr val="bg1"/>
              </a:solidFill>
              <a:latin typeface="UAF Sans" pitchFamily="2" charset="-52"/>
              <a:ea typeface="UAF Sans" pitchFamily="2" charset="-52"/>
              <a:cs typeface="Arial" panose="020B0604020202020204" pitchFamily="34" charset="0"/>
            </a:endParaRPr>
          </a:p>
          <a:p>
            <a:pPr defTabSz="548640">
              <a:lnSpc>
                <a:spcPts val="2400"/>
              </a:lnSpc>
            </a:pPr>
            <a:r>
              <a:rPr lang="uk-UA" b="1" dirty="0">
                <a:solidFill>
                  <a:schemeClr val="bg1"/>
                </a:solidFill>
                <a:latin typeface="UAF Sans" pitchFamily="2" charset="-52"/>
                <a:ea typeface="UAF Sans" pitchFamily="2" charset="-52"/>
                <a:cs typeface="Arial" panose="020B0604020202020204" pitchFamily="34" charset="0"/>
              </a:rPr>
              <a:t>лейтенант Олександр БРАТЕНКО</a:t>
            </a:r>
            <a:endParaRPr lang="uk-UA" b="1" dirty="0">
              <a:solidFill>
                <a:schemeClr val="bg1"/>
              </a:solidFill>
              <a:latin typeface="UAF Sans" pitchFamily="2" charset="-52"/>
              <a:ea typeface="UAF Sans" pitchFamily="2" charset="-52"/>
              <a:cs typeface="Arial" panose="020B0604020202020204" pitchFamily="34" charset="0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5196615" y="6381085"/>
            <a:ext cx="1292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uk-UA" dirty="0">
                <a:solidFill>
                  <a:schemeClr val="bg1"/>
                </a:solidFill>
                <a:latin typeface="UAF Sans" pitchFamily="2" charset="-52"/>
                <a:ea typeface="UAF Sans" pitchFamily="2" charset="-52"/>
              </a:rPr>
              <a:t>Київ 2025</a:t>
            </a:r>
            <a:endParaRPr lang="uk-UA" dirty="0">
              <a:solidFill>
                <a:schemeClr val="bg1"/>
              </a:solidFill>
              <a:latin typeface="UAF Sans" pitchFamily="2" charset="-52"/>
              <a:ea typeface="UAF Sans" pitchFamily="2" charset="-52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0565" y="424180"/>
            <a:ext cx="697865" cy="6978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4180" y="117107"/>
            <a:ext cx="7908291" cy="1325563"/>
          </a:xfrm>
        </p:spPr>
        <p:txBody>
          <a:bodyPr/>
          <a:lstStyle/>
          <a:p>
            <a:r>
              <a:rPr lang="uk-UA" sz="3600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Актуальність теми</a:t>
            </a:r>
            <a:endParaRPr lang="uk-UA" sz="3600" dirty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1083582" y="1515357"/>
            <a:ext cx="10515600" cy="1999291"/>
          </a:xfrm>
        </p:spPr>
        <p:txBody>
          <a:bodyPr>
            <a:noAutofit/>
          </a:bodyPr>
          <a:lstStyle/>
          <a:p>
            <a:pPr>
              <a:buFontTx/>
              <a:buChar char="-"/>
            </a:pPr>
            <a:r>
              <a:rPr lang="en-US" altLang="en-US" sz="2400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Масове впровадження дистанційного та змішаного навчання</a:t>
            </a:r>
            <a:endParaRPr lang="en-US" altLang="en-US" sz="2400" dirty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  <a:p>
            <a:pPr>
              <a:buFontTx/>
              <a:buChar char="-"/>
            </a:pPr>
            <a:r>
              <a:rPr lang="en-US" altLang="en-US" sz="2400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Типові LMS подають однаковий контент усім користувачам</a:t>
            </a:r>
            <a:endParaRPr lang="en-US" altLang="en-US" sz="2400" dirty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  <a:p>
            <a:pPr>
              <a:buFontTx/>
              <a:buChar char="-"/>
            </a:pPr>
            <a:r>
              <a:rPr lang="en-US" altLang="en-US" sz="2400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Недостатній облік:</a:t>
            </a:r>
            <a:endParaRPr lang="en-US" altLang="en-US" sz="2400" dirty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  <a:p>
            <a:pPr lvl="1">
              <a:buFontTx/>
              <a:buChar char="-"/>
            </a:pPr>
            <a:r>
              <a:rPr lang="en-US" altLang="en-US" sz="2055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індивідуального рівня підготовки</a:t>
            </a:r>
            <a:endParaRPr lang="en-US" altLang="en-US" sz="2055" dirty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  <a:p>
            <a:pPr lvl="1">
              <a:buFontTx/>
              <a:buChar char="-"/>
            </a:pPr>
            <a:r>
              <a:rPr lang="en-US" altLang="en-US" sz="2055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темпу засвоєння</a:t>
            </a:r>
            <a:endParaRPr lang="en-US" altLang="en-US" sz="2055" dirty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  <a:p>
            <a:pPr lvl="1">
              <a:buFontTx/>
              <a:buChar char="-"/>
            </a:pPr>
            <a:r>
              <a:rPr lang="en-US" altLang="en-US" sz="2055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вподобань у форматі навчання</a:t>
            </a:r>
            <a:endParaRPr lang="en-US" altLang="en-US" sz="2055" dirty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  <a:p>
            <a:pPr>
              <a:buFontTx/>
              <a:buChar char="-"/>
            </a:pPr>
            <a:r>
              <a:rPr lang="en-US" altLang="en-US" sz="2400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Технології ШІ дозволяють:</a:t>
            </a:r>
            <a:endParaRPr lang="en-US" altLang="en-US" sz="2400" dirty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  <a:p>
            <a:pPr lvl="1">
              <a:buFontTx/>
              <a:buChar char="-"/>
            </a:pPr>
            <a:r>
              <a:rPr lang="en-US" altLang="en-US" sz="2055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аналізувати дії користувача</a:t>
            </a:r>
            <a:endParaRPr lang="en-US" altLang="en-US" sz="2055" dirty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  <a:p>
            <a:pPr lvl="1">
              <a:buFontTx/>
              <a:buChar char="-"/>
            </a:pPr>
            <a:r>
              <a:rPr lang="en-US" altLang="en-US" sz="2055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будувати адаптивні освітні траєкторії</a:t>
            </a:r>
            <a:endParaRPr lang="en-US" altLang="en-US" sz="2055" dirty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</p:txBody>
      </p:sp>
      <p:sp>
        <p:nvSpPr>
          <p:cNvPr id="5" name="Прямокутник 4"/>
          <p:cNvSpPr/>
          <p:nvPr/>
        </p:nvSpPr>
        <p:spPr>
          <a:xfrm rot="5400000">
            <a:off x="212725" y="685800"/>
            <a:ext cx="643890" cy="76200"/>
          </a:xfrm>
          <a:prstGeom prst="rect">
            <a:avLst/>
          </a:prstGeom>
          <a:solidFill>
            <a:srgbClr val="F191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</p:txBody>
      </p:sp>
      <p:sp>
        <p:nvSpPr>
          <p:cNvPr id="7" name="Прямокутник 6"/>
          <p:cNvSpPr/>
          <p:nvPr/>
        </p:nvSpPr>
        <p:spPr>
          <a:xfrm>
            <a:off x="0" y="5972782"/>
            <a:ext cx="12192000" cy="88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8FF94-6348-4D33-B9E2-7050E6E6EC6D}" type="slidenum">
              <a:rPr lang="uk-UA" sz="2000" smtClean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</a:fld>
            <a:endParaRPr lang="uk-UA" sz="2000" dirty="0" smtClean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296" y="6180027"/>
            <a:ext cx="392704" cy="3588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8200" y="6109296"/>
            <a:ext cx="45557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Військовий інститут</a:t>
            </a:r>
            <a:b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</a:br>
            <a: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телекомунікацій та інформатизації</a:t>
            </a:r>
            <a:b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</a:br>
            <a: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імені Героїв Крут</a:t>
            </a:r>
            <a:endParaRPr lang="uk-UA" sz="1400" b="1" dirty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</p:txBody>
      </p:sp>
      <p:pic>
        <p:nvPicPr>
          <p:cNvPr id="4" name="Picture 3"/>
          <p:cNvPicPr/>
          <p:nvPr/>
        </p:nvPicPr>
        <p:blipFill>
          <a:blip/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4156" y="103505"/>
            <a:ext cx="7641318" cy="1325563"/>
          </a:xfrm>
        </p:spPr>
        <p:txBody>
          <a:bodyPr/>
          <a:lstStyle/>
          <a:p>
            <a:r>
              <a:rPr lang="en-US" altLang="en-US" sz="3600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Мета та ідея роботи</a:t>
            </a:r>
            <a:endParaRPr lang="en-US" altLang="en-US" sz="3600" dirty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</p:txBody>
      </p:sp>
      <p:sp>
        <p:nvSpPr>
          <p:cNvPr id="18" name="Місце для номера слайда 17"/>
          <p:cNvSpPr>
            <a:spLocks noGrp="1"/>
          </p:cNvSpPr>
          <p:nvPr>
            <p:ph type="sldNum" sz="quarter" idx="12"/>
          </p:nvPr>
        </p:nvSpPr>
        <p:spPr>
          <a:xfrm>
            <a:off x="8588444" y="6356350"/>
            <a:ext cx="2743200" cy="365125"/>
          </a:xfrm>
        </p:spPr>
        <p:txBody>
          <a:bodyPr/>
          <a:lstStyle/>
          <a:p>
            <a:fld id="{BA98FF94-6348-4D33-B9E2-7050E6E6EC6D}" type="slidenum">
              <a:rPr lang="uk-UA" sz="2000" smtClean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</a:fld>
            <a:endParaRPr lang="uk-UA" sz="2000" dirty="0" smtClean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296" y="6180027"/>
            <a:ext cx="392704" cy="3588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8200" y="6109296"/>
            <a:ext cx="45557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Військовий інститут</a:t>
            </a:r>
            <a:b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</a:br>
            <a: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телекомунікацій та інформатизації</a:t>
            </a:r>
            <a:b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</a:br>
            <a: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імені Героїв Крут</a:t>
            </a:r>
            <a:endParaRPr lang="uk-UA" sz="1400" b="1" dirty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</p:txBody>
      </p:sp>
      <p:sp>
        <p:nvSpPr>
          <p:cNvPr id="19" name="Місце для вмісту 2"/>
          <p:cNvSpPr>
            <a:spLocks noGrp="1"/>
          </p:cNvSpPr>
          <p:nvPr>
            <p:ph idx="1"/>
          </p:nvPr>
        </p:nvSpPr>
        <p:spPr>
          <a:xfrm>
            <a:off x="1083582" y="1601082"/>
            <a:ext cx="10515600" cy="1999291"/>
          </a:xfrm>
        </p:spPr>
        <p:txBody>
          <a:bodyPr>
            <a:noAutofit/>
          </a:bodyPr>
          <a:lstStyle/>
          <a:p>
            <a:pPr marL="0" indent="0">
              <a:buFontTx/>
              <a:buNone/>
            </a:pPr>
            <a:r>
              <a:rPr lang="en-US" altLang="en-US" sz="2055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Мета роботи:</a:t>
            </a:r>
            <a:endParaRPr lang="en-US" altLang="en-US" sz="2055" dirty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  <a:p>
            <a:pPr>
              <a:buFontTx/>
              <a:buChar char="-"/>
            </a:pPr>
            <a:r>
              <a:rPr lang="en-US" altLang="en-US" sz="2055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Розробити прототип адаптивної освітньої системи, яка підлаштовує складність і формат подачі матеріалу на основі аналізу дій користувача та поведінкових метрик</a:t>
            </a:r>
            <a:endParaRPr lang="en-US" altLang="en-US" sz="2055" dirty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  <a:p>
            <a:pPr marL="0" indent="0">
              <a:buFontTx/>
              <a:buNone/>
            </a:pPr>
            <a:r>
              <a:rPr lang="en-US" altLang="en-US" sz="2055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Ідея:</a:t>
            </a:r>
            <a:endParaRPr lang="en-US" altLang="en-US" sz="2055" dirty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  <a:p>
            <a:pPr>
              <a:buFontTx/>
              <a:buChar char="-"/>
            </a:pPr>
            <a:r>
              <a:rPr lang="en-US" altLang="en-US" sz="2055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Користувач навчається через тести та діалоги з системою</a:t>
            </a:r>
            <a:endParaRPr lang="en-US" altLang="en-US" sz="2055" dirty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  <a:p>
            <a:pPr>
              <a:buFontTx/>
              <a:buChar char="-"/>
            </a:pPr>
            <a:r>
              <a:rPr lang="en-US" altLang="en-US" sz="2055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Система збирає метрики</a:t>
            </a:r>
            <a:endParaRPr lang="en-US" altLang="en-US" sz="2055" dirty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  <a:p>
            <a:pPr>
              <a:buFontTx/>
              <a:buChar char="-"/>
            </a:pPr>
            <a:r>
              <a:rPr lang="en-US" altLang="en-US" sz="2055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На їх основі змінює: рівень складності, формат, темп, обсяг</a:t>
            </a:r>
            <a:endParaRPr lang="en-US" altLang="en-US" sz="2055" dirty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</p:txBody>
      </p:sp>
      <p:sp>
        <p:nvSpPr>
          <p:cNvPr id="22" name="Прямокутник 4"/>
          <p:cNvSpPr/>
          <p:nvPr/>
        </p:nvSpPr>
        <p:spPr>
          <a:xfrm rot="5400000">
            <a:off x="205105" y="678180"/>
            <a:ext cx="643890" cy="76200"/>
          </a:xfrm>
          <a:prstGeom prst="rect">
            <a:avLst/>
          </a:prstGeom>
          <a:solidFill>
            <a:srgbClr val="F191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3870" y="315595"/>
            <a:ext cx="8590280" cy="823595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Концепція </a:t>
            </a:r>
            <a:r>
              <a:rPr lang="en-US" altLang="en-US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адаптивного навчання</a:t>
            </a:r>
            <a:endParaRPr lang="en-US" altLang="en-US" dirty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8FF94-6348-4D33-B9E2-7050E6E6EC6D}" type="slidenum">
              <a:rPr lang="uk-UA" sz="2000" smtClean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</a:fld>
            <a:endParaRPr lang="uk-UA" sz="2000" dirty="0" smtClean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8200" y="6109296"/>
            <a:ext cx="45557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Військовий інститут</a:t>
            </a:r>
            <a:b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</a:br>
            <a: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телекомунікацій та інформатизації</a:t>
            </a:r>
            <a:b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</a:br>
            <a: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імені Героїв Крут</a:t>
            </a:r>
            <a:endParaRPr lang="uk-UA" sz="1400" b="1" dirty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</p:txBody>
      </p:sp>
      <p:pic>
        <p:nvPicPr>
          <p:cNvPr id="14" name="Picture 13"/>
          <p:cNvPicPr/>
          <p:nvPr/>
        </p:nvPicPr>
        <p:blipFill>
          <a:blip/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</p:spPr>
      </p:pic>
      <p:pic>
        <p:nvPicPr>
          <p:cNvPr id="18" name="Picture 17"/>
          <p:cNvPicPr/>
          <p:nvPr/>
        </p:nvPicPr>
        <p:blipFill>
          <a:blip/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</p:spPr>
      </p:pic>
      <p:sp>
        <p:nvSpPr>
          <p:cNvPr id="20" name="Text Box 19"/>
          <p:cNvSpPr txBox="1"/>
          <p:nvPr/>
        </p:nvSpPr>
        <p:spPr>
          <a:xfrm>
            <a:off x="6976745" y="5729605"/>
            <a:ext cx="4563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Виготський Лев Семенович</a:t>
            </a:r>
            <a:r>
              <a:rPr lang="uk-UA" altLang="en-US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, </a:t>
            </a:r>
            <a:r>
              <a:rPr lang="en-US" altLang="en-US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1896</a:t>
            </a:r>
            <a:r>
              <a:rPr lang="uk-UA" altLang="en-US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 - </a:t>
            </a:r>
            <a:r>
              <a:rPr lang="en-US" altLang="en-US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1934 </a:t>
            </a:r>
            <a:endParaRPr lang="en-US" altLang="en-US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</p:txBody>
      </p:sp>
      <p:pic>
        <p:nvPicPr>
          <p:cNvPr id="26" name="Picture 25" descr="Lev-Semyonovich-Vygotsky-1896-19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0340" y="1706245"/>
            <a:ext cx="2836545" cy="3913505"/>
          </a:xfrm>
          <a:prstGeom prst="rect">
            <a:avLst/>
          </a:prstGeom>
        </p:spPr>
      </p:pic>
      <p:sp>
        <p:nvSpPr>
          <p:cNvPr id="28" name="Text Box 27"/>
          <p:cNvSpPr txBox="1"/>
          <p:nvPr/>
        </p:nvSpPr>
        <p:spPr>
          <a:xfrm>
            <a:off x="517525" y="1978660"/>
            <a:ext cx="7139940" cy="1908810"/>
          </a:xfrm>
          <a:prstGeom prst="rect">
            <a:avLst/>
          </a:prstGeom>
        </p:spPr>
        <p:txBody>
          <a:bodyPr>
            <a:noAutofit/>
          </a:bodyPr>
          <a:p>
            <a:pPr marL="0" indent="0" algn="just">
              <a:lnSpc>
                <a:spcPct val="100000"/>
              </a:lnSpc>
              <a:spcBef>
                <a:spcPct val="0"/>
              </a:spcBef>
            </a:pPr>
            <a:r>
              <a:rPr sz="2400" b="0" i="0">
                <a:solidFill>
                  <a:schemeClr val="bg1"/>
                </a:solidFill>
                <a:latin typeface="UAF Sans OnBoard" charset="0"/>
                <a:ea typeface="Google Sans"/>
                <a:cs typeface="UAF Sans OnBoard" charset="0"/>
              </a:rPr>
              <a:t>Зона найближчого розвитку (ЗНР)</a:t>
            </a:r>
            <a:r>
              <a:rPr lang="en-US" sz="2400" b="0" i="0">
                <a:solidFill>
                  <a:schemeClr val="bg1"/>
                </a:solidFill>
                <a:latin typeface="UAF Sans OnBoard" charset="0"/>
                <a:ea typeface="Google Sans"/>
                <a:cs typeface="UAF Sans OnBoard" charset="0"/>
              </a:rPr>
              <a:t> </a:t>
            </a:r>
            <a:r>
              <a:rPr sz="2400" b="0" i="0">
                <a:solidFill>
                  <a:schemeClr val="bg1"/>
                </a:solidFill>
                <a:latin typeface="UAF Sans OnBoard" charset="0"/>
                <a:ea typeface="Google Sans"/>
                <a:cs typeface="UAF Sans OnBoard" charset="0"/>
              </a:rPr>
              <a:t>— </a:t>
            </a:r>
            <a:r>
              <a:rPr sz="24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концепція, введена Левом Виготським, що описує простір між тим, що </a:t>
            </a:r>
            <a:r>
              <a:rPr lang="uk-UA" sz="24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людина </a:t>
            </a:r>
            <a:r>
              <a:rPr sz="24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може зробити самостійно, і тим, чого вона може досягти за допомогою </a:t>
            </a:r>
            <a:r>
              <a:rPr lang="uk-UA" sz="24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вчителя</a:t>
            </a:r>
            <a:r>
              <a:rPr sz="24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 чи більш досвідчен</a:t>
            </a:r>
            <a:r>
              <a:rPr lang="uk-UA" sz="24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ої людини</a:t>
            </a:r>
            <a:r>
              <a:rPr sz="2400" b="0" i="0">
                <a:solidFill>
                  <a:schemeClr val="bg1"/>
                </a:solidFill>
                <a:latin typeface="UAF Sans OnBoard" charset="0"/>
                <a:ea typeface="Google Sans"/>
                <a:cs typeface="UAF Sans OnBoard" charset="0"/>
              </a:rPr>
              <a:t>.</a:t>
            </a:r>
            <a:endParaRPr sz="2400" b="0" i="0">
              <a:solidFill>
                <a:schemeClr val="bg1"/>
              </a:solidFill>
              <a:latin typeface="UAF Sans OnBoard" charset="0"/>
              <a:ea typeface="Google Sans"/>
              <a:cs typeface="UAF Sans OnBoard" charset="0"/>
            </a:endParaRPr>
          </a:p>
        </p:txBody>
      </p:sp>
      <p:sp>
        <p:nvSpPr>
          <p:cNvPr id="29" name="Прямокутник 4"/>
          <p:cNvSpPr/>
          <p:nvPr/>
        </p:nvSpPr>
        <p:spPr>
          <a:xfrm rot="5400000">
            <a:off x="186690" y="673735"/>
            <a:ext cx="643890" cy="76200"/>
          </a:xfrm>
          <a:prstGeom prst="rect">
            <a:avLst/>
          </a:prstGeom>
          <a:solidFill>
            <a:srgbClr val="F191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0" y="6151245"/>
            <a:ext cx="451485" cy="4514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2770" y="60960"/>
            <a:ext cx="5920740" cy="1325880"/>
          </a:xfrm>
        </p:spPr>
        <p:txBody>
          <a:bodyPr>
            <a:normAutofit/>
          </a:bodyPr>
          <a:lstStyle/>
          <a:p>
            <a:r>
              <a:rPr lang="uk-UA" altLang="en-US" sz="3600" dirty="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Архітектура </a:t>
            </a:r>
            <a:r>
              <a:rPr lang="en-US" altLang="en-US" sz="3600" dirty="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системи</a:t>
            </a:r>
            <a:endParaRPr lang="en-US" altLang="en-US" sz="3600" dirty="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8FF94-6348-4D33-B9E2-7050E6E6EC6D}" type="slidenum">
              <a:rPr lang="uk-UA" sz="2000" smtClean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</a:fld>
            <a:endParaRPr lang="uk-UA" sz="2000" dirty="0" smtClean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950" y="1206500"/>
            <a:ext cx="10927715" cy="4796155"/>
          </a:xfrm>
          <a:prstGeom prst="rect">
            <a:avLst/>
          </a:prstGeom>
        </p:spPr>
      </p:pic>
      <p:sp>
        <p:nvSpPr>
          <p:cNvPr id="15" name="Прямокутник 4"/>
          <p:cNvSpPr/>
          <p:nvPr/>
        </p:nvSpPr>
        <p:spPr>
          <a:xfrm rot="5400000">
            <a:off x="212725" y="695325"/>
            <a:ext cx="643890" cy="76200"/>
          </a:xfrm>
          <a:prstGeom prst="rect">
            <a:avLst/>
          </a:prstGeom>
          <a:solidFill>
            <a:srgbClr val="F191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</p:txBody>
      </p:sp>
      <p:sp>
        <p:nvSpPr>
          <p:cNvPr id="16" name="TextBox 7"/>
          <p:cNvSpPr txBox="1"/>
          <p:nvPr/>
        </p:nvSpPr>
        <p:spPr>
          <a:xfrm>
            <a:off x="838200" y="6109296"/>
            <a:ext cx="45557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Військовий інститут</a:t>
            </a:r>
            <a:b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</a:br>
            <a: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телекомунікацій та інформатизації</a:t>
            </a:r>
            <a:b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</a:br>
            <a: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імені Героїв Крут</a:t>
            </a:r>
            <a:endParaRPr lang="uk-UA" sz="1400" b="1" dirty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0" y="6151245"/>
            <a:ext cx="451485" cy="4514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89535" y="95250"/>
            <a:ext cx="10594975" cy="132588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Математичний апарат та адаптаційне ядро</a:t>
            </a:r>
            <a:endParaRPr lang="en-US" altLang="en-US" sz="3600" dirty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8FF94-6348-4D33-B9E2-7050E6E6EC6D}" type="slidenum">
              <a:rPr lang="uk-UA" sz="2000" smtClean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</a:fld>
            <a:endParaRPr lang="uk-UA" sz="2000" dirty="0" smtClean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</p:txBody>
      </p:sp>
      <p:sp>
        <p:nvSpPr>
          <p:cNvPr id="15" name="Прямокутник 4"/>
          <p:cNvSpPr/>
          <p:nvPr/>
        </p:nvSpPr>
        <p:spPr>
          <a:xfrm rot="5400000">
            <a:off x="212725" y="685800"/>
            <a:ext cx="643890" cy="76200"/>
          </a:xfrm>
          <a:prstGeom prst="rect">
            <a:avLst/>
          </a:prstGeom>
          <a:solidFill>
            <a:srgbClr val="F191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5882005" y="1165543"/>
            <a:ext cx="5080000" cy="4769485"/>
          </a:xfrm>
          <a:prstGeom prst="rect">
            <a:avLst/>
          </a:prstGeom>
        </p:spPr>
        <p:txBody>
          <a:bodyPr>
            <a:spAutoFit/>
          </a:bodyPr>
          <a:p>
            <a:r>
              <a:rPr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Двигун адаптації використовує:</a:t>
            </a:r>
            <a:endParaRPr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endParaRPr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pPr indent="0">
              <a:buFont typeface="Arial" panose="020B0604020202020204"/>
              <a:buNone/>
            </a:pPr>
            <a:r>
              <a:rPr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Item Response Theory (IRT)</a:t>
            </a:r>
            <a:r>
              <a:rPr 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(feature)</a:t>
            </a:r>
            <a:endParaRPr 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   -</a:t>
            </a:r>
            <a:r>
              <a:rPr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оцінка прихованих здібностей користувача</a:t>
            </a:r>
            <a:endParaRPr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pPr indent="0">
              <a:buFont typeface="Arial" panose="020B0604020202020204"/>
              <a:buNone/>
            </a:pPr>
            <a:r>
              <a:rPr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 </a:t>
            </a:r>
            <a:r>
              <a:rPr 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  - </a:t>
            </a:r>
            <a:r>
              <a:rPr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калібрування рівня складності завдань</a:t>
            </a:r>
            <a:endParaRPr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pPr lvl="1">
              <a:buFont typeface="Arial" panose="020B0604020202020204"/>
              <a:buChar char="◦"/>
            </a:pPr>
            <a:endParaRPr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pPr indent="0">
              <a:buFont typeface="Arial" panose="020B0604020202020204"/>
              <a:buNone/>
            </a:pPr>
            <a:r>
              <a:rPr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Bayesian Knowledge Tracing (BKT)</a:t>
            </a:r>
            <a:endParaRPr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pPr indent="0">
              <a:buFont typeface="Arial" panose="020B0604020202020204"/>
              <a:buNone/>
            </a:pPr>
            <a:r>
              <a:rPr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 </a:t>
            </a:r>
            <a:r>
              <a:rPr 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  - </a:t>
            </a:r>
            <a:r>
              <a:rPr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відстеження засвоєння навичок</a:t>
            </a:r>
            <a:endParaRPr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   - </a:t>
            </a:r>
            <a:r>
              <a:rPr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прогноз ймовірності правильної відповіді</a:t>
            </a:r>
            <a:endParaRPr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pPr lvl="1">
              <a:buFont typeface="Arial" panose="020B0604020202020204"/>
              <a:buChar char="◦"/>
            </a:pPr>
            <a:endParaRPr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pPr indent="0">
              <a:buFont typeface="Arial" panose="020B0604020202020204"/>
              <a:buNone/>
            </a:pPr>
            <a:r>
              <a:rPr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Contextual Bandits</a:t>
            </a:r>
            <a:endParaRPr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   - </a:t>
            </a:r>
            <a:r>
              <a:rPr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вибір формату подачі (text / visual / video /</a:t>
            </a:r>
            <a:r>
              <a:rPr 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 </a:t>
            </a:r>
            <a:r>
              <a:rPr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interactive)</a:t>
            </a:r>
            <a:endParaRPr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   - </a:t>
            </a:r>
            <a:r>
              <a:rPr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врахування поточного контексту та історії взаємодії</a:t>
            </a:r>
            <a:endParaRPr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pPr indent="0">
              <a:buFont typeface="Arial" panose="020B0604020202020204"/>
              <a:buNone/>
            </a:pPr>
            <a:endParaRPr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pPr indent="0">
              <a:buFont typeface="Arial" panose="020B0604020202020204"/>
              <a:buNone/>
            </a:pPr>
            <a:r>
              <a:rPr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Adaptive Learning Layer</a:t>
            </a:r>
            <a:endParaRPr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   - </a:t>
            </a:r>
            <a:r>
              <a:rPr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налаштування темпу, глибини та рефлексивних елементів</a:t>
            </a:r>
            <a:endParaRPr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</p:txBody>
      </p:sp>
      <p:sp>
        <p:nvSpPr>
          <p:cNvPr id="17" name="TextBox 7"/>
          <p:cNvSpPr txBox="1"/>
          <p:nvPr/>
        </p:nvSpPr>
        <p:spPr>
          <a:xfrm>
            <a:off x="838200" y="6109296"/>
            <a:ext cx="45557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Військовий інститут</a:t>
            </a:r>
            <a:b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</a:br>
            <a: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телекомунікацій та інформатизації</a:t>
            </a:r>
            <a:b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</a:br>
            <a: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імені Героїв Крут</a:t>
            </a:r>
            <a:endParaRPr lang="uk-UA" sz="1400" b="1" dirty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900" y="6151245"/>
            <a:ext cx="451485" cy="4514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70" y="1156970"/>
            <a:ext cx="5098415" cy="49993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3145" y="948690"/>
            <a:ext cx="9050655" cy="5772785"/>
          </a:xfrm>
          <a:prstGeom prst="rect">
            <a:avLst/>
          </a:prstGeom>
        </p:spPr>
      </p:pic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8FF94-6348-4D33-B9E2-7050E6E6EC6D}" type="slidenum">
              <a:rPr lang="uk-UA" sz="2000" smtClean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</a:fld>
            <a:endParaRPr lang="uk-UA" sz="2000" dirty="0" smtClean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</p:txBody>
      </p:sp>
      <p:sp>
        <p:nvSpPr>
          <p:cNvPr id="14" name="Прямокутник 4"/>
          <p:cNvSpPr/>
          <p:nvPr/>
        </p:nvSpPr>
        <p:spPr>
          <a:xfrm rot="5400000">
            <a:off x="212725" y="685800"/>
            <a:ext cx="643890" cy="76200"/>
          </a:xfrm>
          <a:prstGeom prst="rect">
            <a:avLst/>
          </a:prstGeom>
          <a:solidFill>
            <a:srgbClr val="F191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</p:txBody>
      </p:sp>
      <p:sp>
        <p:nvSpPr>
          <p:cNvPr id="31" name="Text Box 30"/>
          <p:cNvSpPr txBox="1"/>
          <p:nvPr/>
        </p:nvSpPr>
        <p:spPr>
          <a:xfrm>
            <a:off x="620395" y="402590"/>
            <a:ext cx="9587230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3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Рівень A: Правила (Rules-Based Adaptation)</a:t>
            </a:r>
            <a:endParaRPr sz="3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620395" y="1617980"/>
            <a:ext cx="5080000" cy="3291840"/>
          </a:xfrm>
          <a:prstGeom prst="rect">
            <a:avLst/>
          </a:prstGeom>
        </p:spPr>
        <p:txBody>
          <a:bodyPr>
            <a:spAutoFit/>
          </a:bodyPr>
          <a:p>
            <a:r>
              <a:rPr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Рівень A — адаптація на основі правил</a:t>
            </a:r>
            <a:endParaRPr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endParaRPr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   - </a:t>
            </a:r>
            <a:r>
              <a:rPr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Аналіз базових метрик (час, точність, спроби, уточнення)</a:t>
            </a:r>
            <a:endParaRPr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   - </a:t>
            </a:r>
            <a:r>
              <a:rPr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Простий механізм прийняття рішень</a:t>
            </a:r>
            <a:endParaRPr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pPr>
              <a:buFont typeface="Arial" panose="020B0604020202020204"/>
              <a:buChar char="•"/>
            </a:pPr>
            <a:endParaRPr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pPr indent="0">
              <a:buFont typeface="Arial" panose="020B0604020202020204"/>
              <a:buNone/>
            </a:pPr>
            <a:r>
              <a:rPr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Приклади дій:</a:t>
            </a:r>
            <a:endParaRPr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r>
              <a:rPr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 </a:t>
            </a:r>
            <a:r>
              <a:rPr 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  -</a:t>
            </a:r>
            <a:r>
              <a:rPr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 ↑/↓ складність</a:t>
            </a:r>
            <a:endParaRPr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r>
              <a:rPr 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   - </a:t>
            </a:r>
            <a:r>
              <a:rPr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додавання підказок</a:t>
            </a:r>
            <a:endParaRPr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r>
              <a:rPr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 </a:t>
            </a:r>
            <a:r>
              <a:rPr 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  - </a:t>
            </a:r>
            <a:r>
              <a:rPr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зміна стилю подачі</a:t>
            </a:r>
            <a:endParaRPr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endParaRPr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pPr indent="0">
              <a:buFont typeface="Arial" panose="020B0604020202020204"/>
              <a:buNone/>
            </a:pPr>
            <a:r>
              <a:rPr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Переваги: прозорість, стабільність, мінімальні вимоги до даних</a:t>
            </a:r>
            <a:endParaRPr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</p:txBody>
      </p:sp>
      <p:sp>
        <p:nvSpPr>
          <p:cNvPr id="36" name="TextBox 7"/>
          <p:cNvSpPr txBox="1"/>
          <p:nvPr/>
        </p:nvSpPr>
        <p:spPr>
          <a:xfrm>
            <a:off x="838200" y="6109296"/>
            <a:ext cx="45557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Військовий інститут</a:t>
            </a:r>
            <a:b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</a:br>
            <a: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телекомунікацій та інформатизації</a:t>
            </a:r>
            <a:b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</a:br>
            <a: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імені Героїв Крут</a:t>
            </a:r>
            <a:endParaRPr lang="uk-UA" sz="1400" b="1" dirty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0" y="6151245"/>
            <a:ext cx="451485" cy="4514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8FF94-6348-4D33-B9E2-7050E6E6EC6D}" type="slidenum">
              <a:rPr lang="uk-UA" sz="2000" smtClean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</a:fld>
            <a:endParaRPr lang="uk-UA" sz="2000" dirty="0" smtClean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</p:txBody>
      </p:sp>
      <p:sp>
        <p:nvSpPr>
          <p:cNvPr id="14" name="Прямокутник 4"/>
          <p:cNvSpPr/>
          <p:nvPr/>
        </p:nvSpPr>
        <p:spPr>
          <a:xfrm rot="5400000">
            <a:off x="212725" y="685800"/>
            <a:ext cx="643890" cy="76200"/>
          </a:xfrm>
          <a:prstGeom prst="rect">
            <a:avLst/>
          </a:prstGeom>
          <a:solidFill>
            <a:srgbClr val="F191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</p:txBody>
      </p:sp>
      <p:sp>
        <p:nvSpPr>
          <p:cNvPr id="31" name="Text Box 30"/>
          <p:cNvSpPr txBox="1"/>
          <p:nvPr/>
        </p:nvSpPr>
        <p:spPr>
          <a:xfrm>
            <a:off x="620395" y="402590"/>
            <a:ext cx="12776835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en-US" sz="3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Рівень B</a:t>
            </a:r>
            <a:r>
              <a:rPr lang="uk-UA" altLang="en-US" sz="3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:</a:t>
            </a:r>
            <a:r>
              <a:rPr lang="en-US" altLang="en-US" sz="3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 Контекстн</a:t>
            </a:r>
            <a:r>
              <a:rPr lang="uk-UA" altLang="en-US" sz="3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ий</a:t>
            </a:r>
            <a:r>
              <a:rPr lang="en-US" altLang="en-US" sz="3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 Бандит</a:t>
            </a:r>
            <a:r>
              <a:rPr lang="uk-UA" altLang="en-US" sz="3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 </a:t>
            </a:r>
            <a:endParaRPr lang="en-US" altLang="en-US" sz="3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1193165" y="1617980"/>
            <a:ext cx="5080000" cy="353822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Рівень B — адаптація через контекстні бандити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ML-рішення для вибору формату та типу контенту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Вхідні дані: поведінкові метрики користувача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Можливі дії: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• вибір формату (текст/відео/інтерактив)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• вибір типу вправи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• зміна темпу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Винагорода: успішність, швидкість, залученість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Перевага: навчання в режимі онлайн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8200" y="6109296"/>
            <a:ext cx="45557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Військовий інститут</a:t>
            </a:r>
            <a:b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</a:br>
            <a: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телекомунікацій та інформатизації</a:t>
            </a:r>
            <a:b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</a:br>
            <a: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імені Героїв Крут</a:t>
            </a:r>
            <a:endParaRPr lang="uk-UA" sz="1400" b="1" dirty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900" y="6151245"/>
            <a:ext cx="451485" cy="4514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115" y="20955"/>
            <a:ext cx="327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8FF94-6348-4D33-B9E2-7050E6E6EC6D}" type="slidenum">
              <a:rPr lang="uk-UA" sz="2000" smtClean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</a:fld>
            <a:endParaRPr lang="uk-UA" sz="2000" dirty="0" smtClean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</p:txBody>
      </p:sp>
      <p:sp>
        <p:nvSpPr>
          <p:cNvPr id="14" name="Прямокутник 4"/>
          <p:cNvSpPr/>
          <p:nvPr/>
        </p:nvSpPr>
        <p:spPr>
          <a:xfrm rot="5400000">
            <a:off x="212725" y="685800"/>
            <a:ext cx="643890" cy="76200"/>
          </a:xfrm>
          <a:prstGeom prst="rect">
            <a:avLst/>
          </a:prstGeom>
          <a:solidFill>
            <a:srgbClr val="F191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</p:txBody>
      </p:sp>
      <p:sp>
        <p:nvSpPr>
          <p:cNvPr id="31" name="Text Box 30"/>
          <p:cNvSpPr txBox="1"/>
          <p:nvPr/>
        </p:nvSpPr>
        <p:spPr>
          <a:xfrm>
            <a:off x="620395" y="402590"/>
            <a:ext cx="11149330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en-US" sz="3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Рівень C: Bayesian Knowledge Tracing (BKT)</a:t>
            </a:r>
            <a:endParaRPr lang="en-US" altLang="en-US" sz="3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620395" y="1617980"/>
            <a:ext cx="5475605" cy="3926205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Рівень C — адаптація на основі BKT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Модель відстежує ймовірність засвоєння конкретного вміння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Чотири параметри моделі: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• P(L</a:t>
            </a:r>
            <a:r>
              <a:rPr lang="en-US" altLang="en-US" sz="12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0</a:t>
            </a:r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) — початковий рівень знань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• P(T) — ймовірність навчитися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• P(S) — випадкова помилка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• P(G) — випадкове вгадування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На виході: прогноз знань та наступний оптимальний крок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Адаптує: складність, повторення, додаткові пояснення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8790" y="1165860"/>
            <a:ext cx="4007485" cy="54571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8200" y="6109296"/>
            <a:ext cx="45557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Військовий інститут</a:t>
            </a:r>
            <a:b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</a:br>
            <a: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телекомунікацій та інформатизації</a:t>
            </a:r>
            <a:b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</a:br>
            <a: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імені Героїв Крут</a:t>
            </a:r>
            <a:endParaRPr lang="uk-UA" sz="1400" b="1" dirty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0" y="6151245"/>
            <a:ext cx="451485" cy="4514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8FF94-6348-4D33-B9E2-7050E6E6EC6D}" type="slidenum">
              <a:rPr lang="uk-UA" sz="2000" smtClean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</a:fld>
            <a:endParaRPr lang="uk-UA" sz="2000" dirty="0" smtClean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</p:txBody>
      </p:sp>
      <p:sp>
        <p:nvSpPr>
          <p:cNvPr id="14" name="Прямокутник 4"/>
          <p:cNvSpPr/>
          <p:nvPr/>
        </p:nvSpPr>
        <p:spPr>
          <a:xfrm rot="5400000">
            <a:off x="212725" y="685800"/>
            <a:ext cx="643890" cy="76200"/>
          </a:xfrm>
          <a:prstGeom prst="rect">
            <a:avLst/>
          </a:prstGeom>
          <a:solidFill>
            <a:srgbClr val="F191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</p:txBody>
      </p:sp>
      <p:sp>
        <p:nvSpPr>
          <p:cNvPr id="31" name="Text Box 30"/>
          <p:cNvSpPr txBox="1"/>
          <p:nvPr/>
        </p:nvSpPr>
        <p:spPr>
          <a:xfrm>
            <a:off x="620395" y="402590"/>
            <a:ext cx="11149330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en-US" sz="3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Профіль користувача</a:t>
            </a:r>
            <a:r>
              <a:rPr lang="uk-UA" altLang="en-US" sz="3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 та </a:t>
            </a:r>
            <a:r>
              <a:rPr lang="en-US" altLang="en-US" sz="3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deployment</a:t>
            </a:r>
            <a:endParaRPr lang="en-US" altLang="en-US" sz="3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620395" y="1450340"/>
            <a:ext cx="5475605" cy="3926205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Профіль користувача містить: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r>
              <a:rPr lang="uk-UA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   - </a:t>
            </a:r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рівень опанування тем (topic mastery)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r>
              <a:rPr lang="uk-UA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   - </a:t>
            </a:r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середній темп навчання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r>
              <a:rPr lang="uk-UA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   - </a:t>
            </a:r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вподобаний формат навчання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r>
              <a:rPr lang="uk-UA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   - </a:t>
            </a:r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типові патерни помилок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r>
              <a:rPr lang="uk-UA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   - </a:t>
            </a:r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історію діалогів і результатів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endParaRPr lang="uk-UA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r>
              <a:rPr lang="uk-UA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А</a:t>
            </a:r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даптації: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Когнітивна – зміна складності завдань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Темпова – зміна швидкості й обсягу подачі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Форматна – вибір типу матеріалу (текст / відео / інтерактив)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Емоційно-поведінкова – стиль пояснень, частота підказок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Формується петля адаптації: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дані → оцінка стану → рішення → зміна навчання → оновлення профілю.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3225" y="1812290"/>
            <a:ext cx="6550025" cy="34651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8200" y="6109296"/>
            <a:ext cx="45557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Військовий інститут</a:t>
            </a:r>
            <a:b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</a:br>
            <a: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телекомунікацій та інформатизації</a:t>
            </a:r>
            <a:b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</a:br>
            <a: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імені Героїв Крут</a:t>
            </a:r>
            <a:endParaRPr lang="uk-UA" sz="1400" b="1" dirty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0" y="6151245"/>
            <a:ext cx="451485" cy="4514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8FF94-6348-4D33-B9E2-7050E6E6EC6D}" type="slidenum">
              <a:rPr lang="uk-UA" sz="2000" smtClean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</a:fld>
            <a:endParaRPr lang="uk-UA" sz="2000" dirty="0" smtClean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</p:txBody>
      </p:sp>
      <p:sp>
        <p:nvSpPr>
          <p:cNvPr id="14" name="Прямокутник 4"/>
          <p:cNvSpPr/>
          <p:nvPr/>
        </p:nvSpPr>
        <p:spPr>
          <a:xfrm rot="5400000">
            <a:off x="212725" y="685800"/>
            <a:ext cx="643890" cy="76200"/>
          </a:xfrm>
          <a:prstGeom prst="rect">
            <a:avLst/>
          </a:prstGeom>
          <a:solidFill>
            <a:srgbClr val="F191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</p:txBody>
      </p:sp>
      <p:sp>
        <p:nvSpPr>
          <p:cNvPr id="31" name="Text Box 30"/>
          <p:cNvSpPr txBox="1"/>
          <p:nvPr/>
        </p:nvSpPr>
        <p:spPr>
          <a:xfrm>
            <a:off x="620395" y="402590"/>
            <a:ext cx="11149330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uk-UA" sz="3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Висновки та перспективи</a:t>
            </a:r>
            <a:endParaRPr lang="uk-UA" sz="3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620395" y="2011045"/>
            <a:ext cx="5475605" cy="3926205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Запропоновано модель адаптивної освітньої системи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Враховуються: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pPr indent="457200"/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поведінкові метрики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pPr indent="457200"/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когнітивні показники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pPr indent="457200"/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концепція зони найближчого розвитку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pPr indent="457200"/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Математичний апарат (BKT, contextual bandits, Adaptive Learning Layer)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pPr indent="457200"/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</a:rPr>
              <a:t>забезпечує формалізацію процесу адаптації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pPr indent="457200"/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908675" y="2727325"/>
            <a:ext cx="609600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  <a:sym typeface="+mn-ea"/>
              </a:rPr>
              <a:t>Перспективи розвитку: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pPr indent="457200"/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  <a:sym typeface="+mn-ea"/>
              </a:rPr>
              <a:t>реалізація та тестування прототипу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pPr indent="457200"/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  <a:sym typeface="+mn-ea"/>
              </a:rPr>
              <a:t>розширення набору метрик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pPr indent="457200"/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  <a:sym typeface="+mn-ea"/>
              </a:rPr>
              <a:t>інтеграція з LLM для динамічного формування контенту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</a:endParaRPr>
          </a:p>
          <a:p>
            <a:pPr indent="457200"/>
            <a:r>
              <a:rPr lang="en-US" altLang="en-US" sz="1600">
                <a:solidFill>
                  <a:schemeClr val="bg1"/>
                </a:solidFill>
                <a:latin typeface="UAF Sans OnBoard" charset="0"/>
                <a:cs typeface="UAF Sans OnBoard" charset="0"/>
                <a:sym typeface="+mn-ea"/>
              </a:rPr>
              <a:t>можливе впровадження у системи дистанційного навчання ВІТІ та інших ЗВО</a:t>
            </a:r>
            <a:endParaRPr lang="en-US" altLang="en-US" sz="1600">
              <a:solidFill>
                <a:schemeClr val="bg1"/>
              </a:solidFill>
              <a:latin typeface="UAF Sans OnBoard" charset="0"/>
              <a:cs typeface="UAF Sans OnBoard" charset="0"/>
              <a:sym typeface="+mn-ea"/>
            </a:endParaRPr>
          </a:p>
        </p:txBody>
      </p:sp>
      <p:sp>
        <p:nvSpPr>
          <p:cNvPr id="3" name="TextBox 7"/>
          <p:cNvSpPr txBox="1"/>
          <p:nvPr/>
        </p:nvSpPr>
        <p:spPr>
          <a:xfrm>
            <a:off x="838200" y="6109296"/>
            <a:ext cx="45557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Військовий інститут</a:t>
            </a:r>
            <a:b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</a:br>
            <a: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телекомунікацій та інформатизації</a:t>
            </a:r>
            <a:b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</a:br>
            <a:r>
              <a:rPr lang="uk-UA" sz="1400" b="1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імені Героїв Крут</a:t>
            </a:r>
            <a:endParaRPr lang="uk-UA" sz="1400" b="1" dirty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900" y="6151245"/>
            <a:ext cx="451485" cy="4514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17261" y="2888270"/>
            <a:ext cx="6290095" cy="1325563"/>
          </a:xfrm>
        </p:spPr>
        <p:txBody>
          <a:bodyPr/>
          <a:lstStyle/>
          <a:p>
            <a:r>
              <a:rPr lang="uk-UA" dirty="0">
                <a:solidFill>
                  <a:schemeClr val="bg1"/>
                </a:solidFill>
                <a:latin typeface="UAF Sans OnBoard" charset="0"/>
                <a:ea typeface="UAF Sans" pitchFamily="2" charset="-52"/>
                <a:cs typeface="UAF Sans OnBoard" charset="0"/>
              </a:rPr>
              <a:t>ДЯКУЮ ЗА УВАГУ !</a:t>
            </a:r>
            <a:endParaRPr lang="uk-UA" dirty="0">
              <a:solidFill>
                <a:schemeClr val="bg1"/>
              </a:solidFill>
              <a:latin typeface="UAF Sans OnBoard" charset="0"/>
              <a:ea typeface="UAF Sans" pitchFamily="2" charset="-52"/>
              <a:cs typeface="UAF Sans OnBoard" charset="0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1655" y="209042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4581</Words>
  <Application>WPS Presentation</Application>
  <PresentationFormat>Широкий екран</PresentationFormat>
  <Paragraphs>185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SimSun</vt:lpstr>
      <vt:lpstr>Wingdings</vt:lpstr>
      <vt:lpstr>UAF Sans</vt:lpstr>
      <vt:lpstr>UAF Sans OnBoard</vt:lpstr>
      <vt:lpstr>Google Sans</vt:lpstr>
      <vt:lpstr>Arial</vt:lpstr>
      <vt:lpstr>Microsoft YaHei</vt:lpstr>
      <vt:lpstr>Arial Unicode MS</vt:lpstr>
      <vt:lpstr>Calibri Light</vt:lpstr>
      <vt:lpstr>Calibri</vt:lpstr>
      <vt:lpstr>ESRI AMFM Electric</vt:lpstr>
      <vt:lpstr>Тема Office</vt:lpstr>
      <vt:lpstr>Військовий інститут телекомунікацій та інформатизації імені Героїв Крут</vt:lpstr>
      <vt:lpstr>Актуальність теми</vt:lpstr>
      <vt:lpstr>Мета та ідея роботи</vt:lpstr>
      <vt:lpstr>Концепція адаптивного навчання</vt:lpstr>
      <vt:lpstr>Архітектура системи</vt:lpstr>
      <vt:lpstr>Математичний апарат та адаптаційне ядро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ДЯКУЮ ЗА УВАГУ 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Андрій Тимченко</dc:creator>
  <cp:lastModifiedBy>Александр Брате�</cp:lastModifiedBy>
  <cp:revision>20</cp:revision>
  <dcterms:created xsi:type="dcterms:W3CDTF">2025-06-03T07:36:00Z</dcterms:created>
  <dcterms:modified xsi:type="dcterms:W3CDTF">2025-12-15T11:33:48Z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1E9376B32E3D4ECDB147319434D7E757_13</vt:lpwstr>
  </property>
  <property fmtid="{D5CDD505-2E9C-101B-9397-08002B2CF9AE}" pid="3" name="KSOProductBuildVer">
    <vt:lpwstr>1033-12.2.0.23155</vt:lpwstr>
  </property>
</Properties>
</file>